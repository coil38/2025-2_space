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A5009B8-C6CE-49F6-8400-59B0EF16E09A}">
  <a:tblStyle styleId="{CA5009B8-C6CE-49F6-8400-59B0EF16E09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9c8ca7093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9c8ca709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9c8ca709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9c8ca709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9c8ca709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9c8ca70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9c8ca709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89c8ca709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9c8ca709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89c8ca709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45fb37a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45fb37a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45fb37a9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45fb37a9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45fb37a9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45fb37a9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일반 몬스터 Behavior Tree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술병, 그루터기, 돌 전사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업데이트 내역</a:t>
            </a:r>
            <a:endParaRPr/>
          </a:p>
        </p:txBody>
      </p:sp>
      <p:graphicFrame>
        <p:nvGraphicFramePr>
          <p:cNvPr id="61" name="Google Shape;61;p14"/>
          <p:cNvGraphicFramePr/>
          <p:nvPr/>
        </p:nvGraphicFramePr>
        <p:xfrm>
          <a:off x="311700" y="108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{CA5009B8-C6CE-49F6-8400-59B0EF16E09A}</a:tableStyleId>
              </a:tblPr>
              <a:tblGrid>
                <a:gridCol w="501975"/>
                <a:gridCol w="1035375"/>
                <a:gridCol w="1035375"/>
                <a:gridCol w="1178675"/>
                <a:gridCol w="4769175"/>
              </a:tblGrid>
              <a:tr h="38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순번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일자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버전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작성자/수정자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내용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51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2025.10.08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0.0.1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김덕용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문서 작성 완료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51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2025.10.010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0.0.2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김덕용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쓰레기 봉지, 미니 오염물질, 낡은 인형 몬스터 Behavior Tree파트 추가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Behavior Tree</a:t>
            </a:r>
            <a:r>
              <a:rPr lang="ko"/>
              <a:t>란?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AI </a:t>
            </a:r>
            <a:r>
              <a:rPr lang="ko"/>
              <a:t>행동을 구조적으로 설계하는 툴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왼쪽 -&gt; 오른쪽으로 순차적 실행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491"/>
              <a:t>셀렉터 노드</a:t>
            </a:r>
            <a:r>
              <a:rPr lang="ko" sz="1491"/>
              <a:t> : 하나의 하위 노드 조건에 당첨되어 그 행동을 수행하는데 성공하면 멈추는 노드</a:t>
            </a:r>
            <a:endParaRPr sz="149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491"/>
              <a:t>시퀀스</a:t>
            </a:r>
            <a:r>
              <a:rPr b="1" lang="ko" sz="1491"/>
              <a:t> 노드</a:t>
            </a:r>
            <a:r>
              <a:rPr lang="ko" sz="1491"/>
              <a:t> : 아래에 있는 노드들을 순서대로 실행하다가 어떤 하나의 하위 노드에서 실행을 실패하면 멈추는 노드</a:t>
            </a:r>
            <a:endParaRPr sz="149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491">
                <a:highlight>
                  <a:srgbClr val="B6D7A8"/>
                </a:highlight>
              </a:rPr>
              <a:t>데코레이터 노드</a:t>
            </a:r>
            <a:r>
              <a:rPr b="1" lang="ko" sz="1491"/>
              <a:t> </a:t>
            </a:r>
            <a:r>
              <a:rPr lang="ko" sz="1491"/>
              <a:t>: 하위 노드에 조건을 거는 노드</a:t>
            </a:r>
            <a:endParaRPr sz="149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491">
                <a:highlight>
                  <a:srgbClr val="B4A7D6"/>
                </a:highlight>
              </a:rPr>
              <a:t>액션 노드</a:t>
            </a:r>
            <a:r>
              <a:rPr lang="ko" sz="1491"/>
              <a:t> : 행동을 수행하는 노드</a:t>
            </a:r>
            <a:endParaRPr sz="149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491">
                <a:highlight>
                  <a:srgbClr val="A4C2F4"/>
                </a:highlight>
              </a:rPr>
              <a:t>랜덤 노드</a:t>
            </a:r>
            <a:r>
              <a:rPr lang="ko" sz="1491"/>
              <a:t> : 랜덤으로 실행 한다.</a:t>
            </a:r>
            <a:endParaRPr sz="149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술병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017725"/>
            <a:ext cx="3771000" cy="29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행동 순서</a:t>
            </a:r>
            <a:endParaRPr sz="1000"/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SzPts val="1000"/>
              <a:buAutoNum type="arabicPeriod"/>
            </a:pPr>
            <a:r>
              <a:rPr lang="ko" sz="1000"/>
              <a:t>공격할 수 있는가? (가장 먼저 확인)</a:t>
            </a:r>
            <a:endParaRPr sz="1000"/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조건 : 플레이어가 ‘돌진 준비 범위’안에 들어왔는가?</a:t>
            </a:r>
            <a:endParaRPr sz="1000"/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실행 : 공격을 최우선으로 하며, 다른 모든 행동은 무시하고 아래 노드를 전부 끝마칩니다.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ko" sz="1000"/>
              <a:t>추격할 수 있는가? (공격이 불가능할 때)</a:t>
            </a:r>
            <a:endParaRPr sz="1000"/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조건 : 플레이어가 ‘인식 범위’안에 있는가?</a:t>
            </a:r>
            <a:endParaRPr sz="1000"/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실행 : 플레이어를 향해 굴러가며 추격합니다.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ko" sz="1000"/>
              <a:t>대기 (모든 조건이 만족되지 않을 때)</a:t>
            </a:r>
            <a:endParaRPr sz="1000"/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조건 : 위에 해당하는 조건이 하나도 없을 경우</a:t>
            </a:r>
            <a:endParaRPr sz="1000"/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실행 : </a:t>
            </a:r>
            <a:r>
              <a:rPr lang="ko" sz="1000"/>
              <a:t>아무것도</a:t>
            </a:r>
            <a:r>
              <a:rPr lang="ko" sz="1000"/>
              <a:t> 하지 않고 제자리에서 대기 및 랜덤 이동합니다</a:t>
            </a:r>
            <a:endParaRPr sz="1000"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9652" y="747622"/>
            <a:ext cx="6834297" cy="3791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그루터기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017725"/>
            <a:ext cx="3771000" cy="29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행동 순서</a:t>
            </a:r>
            <a:endParaRPr sz="1000"/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SzPts val="1000"/>
              <a:buAutoNum type="arabicPeriod"/>
            </a:pPr>
            <a:r>
              <a:rPr lang="ko" sz="1000"/>
              <a:t>공격할 수 있는가? (가장 먼저 확인)</a:t>
            </a:r>
            <a:endParaRPr sz="1000"/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조건 1 : </a:t>
            </a:r>
            <a:r>
              <a:rPr lang="ko" sz="1000"/>
              <a:t>플레이어가 ‘공격 범위’(맵 전체)안에 있는가?</a:t>
            </a:r>
            <a:endParaRPr sz="1000"/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조건 2 : ‘공격 쿨다운’이 종료되었는가?</a:t>
            </a:r>
            <a:endParaRPr sz="1000"/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실행 : 공격을 최우선으로 하며, 다른 모든 행동은 무시하고 아래 </a:t>
            </a:r>
            <a:r>
              <a:rPr lang="ko" sz="1000"/>
              <a:t>노드를</a:t>
            </a:r>
            <a:r>
              <a:rPr lang="ko" sz="1000"/>
              <a:t> 전부 끝마</a:t>
            </a:r>
            <a:r>
              <a:rPr lang="ko" sz="1000"/>
              <a:t>칩니다</a:t>
            </a:r>
            <a:r>
              <a:rPr lang="ko" sz="1000"/>
              <a:t>.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ko" sz="1000"/>
              <a:t>대기 (</a:t>
            </a:r>
            <a:r>
              <a:rPr lang="ko" sz="1000"/>
              <a:t>공격 조건이 만족되지 않을 때</a:t>
            </a:r>
            <a:r>
              <a:rPr lang="ko" sz="1000"/>
              <a:t>)</a:t>
            </a:r>
            <a:endParaRPr sz="1000"/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조건 : 위에 2</a:t>
            </a:r>
            <a:r>
              <a:rPr lang="ko" sz="1000"/>
              <a:t>가지 조건 중</a:t>
            </a:r>
            <a:r>
              <a:rPr lang="ko" sz="1000"/>
              <a:t> 하나</a:t>
            </a:r>
            <a:r>
              <a:rPr lang="ko" sz="1000"/>
              <a:t>라도 만족되지 않았을 경우</a:t>
            </a:r>
            <a:endParaRPr sz="1000"/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실행 : 아무것도 하지 않고 제자리에서 대기</a:t>
            </a:r>
            <a:r>
              <a:rPr lang="ko" sz="1000"/>
              <a:t>하며 쿨다운이 끝나기를 기다립니다.</a:t>
            </a:r>
            <a:endParaRPr sz="1000"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4756" y="445025"/>
            <a:ext cx="5065018" cy="441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돌 전사</a:t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9675" y="682475"/>
            <a:ext cx="6804325" cy="37785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017725"/>
            <a:ext cx="3771000" cy="29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행동 순서</a:t>
            </a:r>
            <a:endParaRPr sz="1000"/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SzPts val="1000"/>
              <a:buAutoNum type="arabicPeriod"/>
            </a:pPr>
            <a:r>
              <a:rPr lang="ko" sz="1000"/>
              <a:t>공격할 수 있는가? (가장 먼저 확인)</a:t>
            </a:r>
            <a:endParaRPr sz="1000"/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조건 : 플레이어가 ‘</a:t>
            </a:r>
            <a:r>
              <a:rPr lang="ko" sz="1000"/>
              <a:t>근접 공격</a:t>
            </a:r>
            <a:r>
              <a:rPr lang="ko" sz="1000"/>
              <a:t> 범위’안에 들어왔는가?</a:t>
            </a:r>
            <a:endParaRPr sz="1000"/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실행 : 공격을 최우선으로 하며, 다른 모든 행동은 무시하고 아래 노드를 전부 끝마</a:t>
            </a:r>
            <a:r>
              <a:rPr lang="ko" sz="1000"/>
              <a:t>칩니다.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ko" sz="1000"/>
              <a:t>추격할 수 있는가? (공격이 불가능할 때)</a:t>
            </a:r>
            <a:endParaRPr sz="1000"/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조건 : 플레이어가 ‘인식 범위’안에 있는가?</a:t>
            </a:r>
            <a:endParaRPr sz="1000"/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실행 : 플레이어를 향해 굴러가며 추격합니다.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ko" sz="1000"/>
              <a:t>대기 (모든 조건이 만족되지 않을 때)</a:t>
            </a:r>
            <a:endParaRPr sz="1000"/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조건 : 위에 해당하는 조건이 하나도 없을 경우</a:t>
            </a:r>
            <a:endParaRPr sz="1000"/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실행 : 아무것도 하지 않고 제자리에서 대기 및 랜덤 이동</a:t>
            </a:r>
            <a:r>
              <a:rPr lang="ko" sz="1000"/>
              <a:t>합니다.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쓰레기 봉지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017725"/>
            <a:ext cx="5142300" cy="21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행동 순서</a:t>
            </a:r>
            <a:endParaRPr sz="1000"/>
          </a:p>
          <a:p>
            <a:pPr indent="-273050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ko" sz="1000"/>
              <a:t>죽었는가?</a:t>
            </a:r>
            <a:endParaRPr sz="1000"/>
          </a:p>
          <a:p>
            <a:pPr indent="-27305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 sz="1000"/>
              <a:t>조건 : 몬스터의 체력이 0이하인가?</a:t>
            </a:r>
            <a:endParaRPr sz="1000"/>
          </a:p>
          <a:p>
            <a:pPr indent="-27305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 sz="1000"/>
              <a:t>실행 : 사망 절차를 최우선으로 실행됩니다.</a:t>
            </a:r>
            <a:endParaRPr sz="1000"/>
          </a:p>
          <a:p>
            <a:pPr indent="-273050" lvl="1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ko" sz="1000"/>
              <a:t>조건 : 분열이 가능한가?</a:t>
            </a:r>
            <a:endParaRPr sz="1000"/>
          </a:p>
          <a:p>
            <a:pPr indent="-273050" lvl="1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ko" sz="1000"/>
              <a:t>실행(가능) : 사망(분열) 애니메이션을 재생하고 작은 몬스터들을 생성한 뒤 자신은 사라집니다.</a:t>
            </a:r>
            <a:endParaRPr sz="1000"/>
          </a:p>
          <a:p>
            <a:pPr indent="-273050" lvl="1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ko" sz="1000"/>
              <a:t>실행(불가능) : 최종 사망 애니메이션을 재생하고 완전히 사라집니다. </a:t>
            </a:r>
            <a:endParaRPr sz="1000"/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ko" sz="1000"/>
              <a:t>공격할 수 있는가? (가장 먼저 확인)</a:t>
            </a:r>
            <a:endParaRPr sz="1000"/>
          </a:p>
          <a:p>
            <a:pPr indent="-27305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 sz="1000"/>
              <a:t>조건 : 플레이어가 ‘근접 공격 범위’안에 들어왔는가?</a:t>
            </a:r>
            <a:endParaRPr sz="1000"/>
          </a:p>
          <a:p>
            <a:pPr indent="-27305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 sz="1000"/>
              <a:t>실행 : 공격을 최우선으로 하며, 다른 모든 행동은 무시하고 아래 노드를 전부 끝마</a:t>
            </a:r>
            <a:r>
              <a:rPr lang="ko" sz="1000"/>
              <a:t>칩니다</a:t>
            </a:r>
            <a:r>
              <a:rPr lang="ko" sz="1000"/>
              <a:t>.</a:t>
            </a:r>
            <a:endParaRPr sz="1000"/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ko" sz="1000"/>
              <a:t>추격할 수 있는가? (공격이 불가능할 때)</a:t>
            </a:r>
            <a:endParaRPr sz="1000"/>
          </a:p>
          <a:p>
            <a:pPr indent="-27305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 sz="1000"/>
              <a:t>조건 : 플레이어가 ‘인식 범위’안에 있는가?</a:t>
            </a:r>
            <a:endParaRPr sz="1000"/>
          </a:p>
          <a:p>
            <a:pPr indent="-27305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 sz="1000"/>
              <a:t>실행 : 플레이어를 향해 굴러가며 추격합니다.</a:t>
            </a:r>
            <a:endParaRPr sz="1000"/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ko" sz="1000"/>
              <a:t>대기 (모든 조건이 만족되지 않을 때)</a:t>
            </a:r>
            <a:endParaRPr sz="1000"/>
          </a:p>
          <a:p>
            <a:pPr indent="-27305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 sz="1000"/>
              <a:t>조건 : 위에 해당하는 조건이 하나도 없을 경우</a:t>
            </a:r>
            <a:endParaRPr sz="1000"/>
          </a:p>
          <a:p>
            <a:pPr indent="-27305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 sz="1000"/>
              <a:t>실행 : 아무것도 하지 않고 제자리에서 대기 및 랜덤 이동</a:t>
            </a:r>
            <a:r>
              <a:rPr lang="ko" sz="1000"/>
              <a:t>합니다.</a:t>
            </a:r>
            <a:endParaRPr sz="1000"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5849" y="2011250"/>
            <a:ext cx="7338151" cy="313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미니 오염물질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017725"/>
            <a:ext cx="5142300" cy="21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행동 순서</a:t>
            </a:r>
            <a:endParaRPr sz="1000"/>
          </a:p>
          <a:p>
            <a:pPr indent="-282575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ko" sz="1000"/>
              <a:t>도망가야 하는가? </a:t>
            </a:r>
            <a:r>
              <a:rPr lang="ko" sz="1000"/>
              <a:t>(가장 먼저 확인)</a:t>
            </a:r>
            <a:endParaRPr sz="1000"/>
          </a:p>
          <a:p>
            <a:pPr indent="-282575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 sz="1000"/>
              <a:t>조건 : </a:t>
            </a:r>
            <a:r>
              <a:rPr lang="ko" sz="1000"/>
              <a:t>현재 ‘도망’ 상태인가?</a:t>
            </a:r>
            <a:endParaRPr sz="1000"/>
          </a:p>
          <a:p>
            <a:pPr indent="-282575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 sz="1000"/>
              <a:t>실행 : </a:t>
            </a:r>
            <a:r>
              <a:rPr lang="ko" sz="1000"/>
              <a:t>다른 모든 모든 행동 무시하고, 정해진 도망 시간동안 플레이어에게서 멀어집니다.</a:t>
            </a:r>
            <a:endParaRPr sz="1000"/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ko" sz="1000"/>
              <a:t>공격할 수 있는가? (</a:t>
            </a:r>
            <a:r>
              <a:rPr lang="ko" sz="1000"/>
              <a:t>도망치지 않을 때 확인)</a:t>
            </a:r>
            <a:r>
              <a:rPr lang="ko" sz="1000"/>
              <a:t> </a:t>
            </a:r>
            <a:endParaRPr sz="1000"/>
          </a:p>
          <a:p>
            <a:pPr indent="-282575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 sz="1000"/>
              <a:t>조건 : 플레이어가 ‘</a:t>
            </a:r>
            <a:r>
              <a:rPr lang="ko" sz="1000"/>
              <a:t>돌진 준비</a:t>
            </a:r>
            <a:r>
              <a:rPr lang="ko" sz="1000"/>
              <a:t> 범위’안에 들어왔는가?</a:t>
            </a:r>
            <a:endParaRPr sz="1000"/>
          </a:p>
          <a:p>
            <a:pPr indent="-282575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 sz="1000"/>
              <a:t>실행 : 공격을 최우선으로 하며, 다른 모든 행동은 무시하고 아래 노드를 전부 끝마</a:t>
            </a:r>
            <a:r>
              <a:rPr lang="ko" sz="1000"/>
              <a:t>칩니다</a:t>
            </a:r>
            <a:r>
              <a:rPr lang="ko" sz="1000"/>
              <a:t>.</a:t>
            </a:r>
            <a:endParaRPr sz="1000"/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ko" sz="1000"/>
              <a:t>추격할 수 있는가? (공격이 불가능할 때)</a:t>
            </a:r>
            <a:endParaRPr sz="1000"/>
          </a:p>
          <a:p>
            <a:pPr indent="-282575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 sz="1000"/>
              <a:t>조건 : 플레이어가 ‘인식 범위’안에 있는가?</a:t>
            </a:r>
            <a:endParaRPr sz="1000"/>
          </a:p>
          <a:p>
            <a:pPr indent="-282575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 sz="1000"/>
              <a:t>실행 : 플레이어를 향해 굴러가며 추격합니다.</a:t>
            </a:r>
            <a:endParaRPr sz="1000"/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ko" sz="1000"/>
              <a:t>대기 (모든 조건이 만족되지 않을 때)</a:t>
            </a:r>
            <a:endParaRPr sz="1000"/>
          </a:p>
          <a:p>
            <a:pPr indent="-282575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 sz="1000"/>
              <a:t>조건 : 위에 해당하는 조건이 하나도 없을 경우</a:t>
            </a:r>
            <a:endParaRPr sz="1000"/>
          </a:p>
          <a:p>
            <a:pPr indent="-282575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ko" sz="1000"/>
              <a:t>실행 : 아무것도 하지 않고 제자리에서 대기 및</a:t>
            </a:r>
            <a:br>
              <a:rPr lang="ko" sz="1000"/>
            </a:br>
            <a:r>
              <a:rPr lang="ko" sz="1000"/>
              <a:t>랜덤 이동</a:t>
            </a:r>
            <a:endParaRPr sz="1000"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0126" y="1441300"/>
            <a:ext cx="6303875" cy="349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낡은 인형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017725"/>
            <a:ext cx="5142300" cy="21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행동 순서</a:t>
            </a:r>
            <a:endParaRPr sz="1000"/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SzPts val="1000"/>
              <a:buAutoNum type="arabicPeriod"/>
            </a:pPr>
            <a:r>
              <a:rPr lang="ko" sz="1000"/>
              <a:t>소환할 시간인가? </a:t>
            </a:r>
            <a:r>
              <a:rPr lang="ko" sz="1000"/>
              <a:t>(가장 먼저 확인)</a:t>
            </a:r>
            <a:endParaRPr sz="1000"/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조건 : </a:t>
            </a:r>
            <a:r>
              <a:rPr lang="ko" sz="1000"/>
              <a:t>소환 쿨다운이 종료되었는가?</a:t>
            </a:r>
            <a:endParaRPr sz="1000"/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실행 : 다른 모든 모든 행동 무</a:t>
            </a:r>
            <a:r>
              <a:rPr lang="ko" sz="1000"/>
              <a:t>시하고, 다른 모든 행동은 무시하고 아래 노드를 전부 끝마칩니다.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ko" sz="1000"/>
              <a:t>배회할 시간인가?</a:t>
            </a:r>
            <a:r>
              <a:rPr lang="ko" sz="1000"/>
              <a:t> (도망치지 않을 때 확인) </a:t>
            </a:r>
            <a:endParaRPr sz="1000"/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조건 : </a:t>
            </a:r>
            <a:r>
              <a:rPr lang="ko" sz="1000"/>
              <a:t>배회 타이머가 활성화 상태인가?</a:t>
            </a:r>
            <a:endParaRPr sz="1000"/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실행 : </a:t>
            </a:r>
            <a:r>
              <a:rPr lang="ko" sz="1000"/>
              <a:t>맵의 무작위 지점을 향해 이동하며 배회합니다.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ko" sz="1000"/>
              <a:t>대기 (모든 조건이 만족되지 않을 때)</a:t>
            </a:r>
            <a:endParaRPr sz="1000"/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조건 : 위에 해당하는 조건이 하나도 없을 경우</a:t>
            </a:r>
            <a:endParaRPr sz="1000"/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실행 : 아무것도 하지 않고 제자리에서 대기 및</a:t>
            </a:r>
            <a:br>
              <a:rPr lang="ko" sz="1000"/>
            </a:br>
            <a:r>
              <a:rPr lang="ko" sz="1000"/>
              <a:t>랜덤 이동</a:t>
            </a:r>
            <a:endParaRPr sz="1000"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6250" y="1250200"/>
            <a:ext cx="6287750" cy="3488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